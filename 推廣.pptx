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embeddedFontLst>
    <p:embeddedFont>
      <p:font typeface="GenWanMin2 TW M" panose="02020400000000000000" pitchFamily="18" charset="-120"/>
      <p:regular r:id="rId11"/>
    </p:embeddedFont>
    <p:embeddedFont>
      <p:font typeface="GenWanMin2 TW R" panose="02020400000000000000" pitchFamily="18" charset="-120"/>
      <p:regular r:id="rId12"/>
    </p:embeddedFont>
    <p:embeddedFont>
      <p:font typeface="GenWanMin2 TW SB" panose="02020400000000000000" pitchFamily="18" charset="-120"/>
      <p:regular r:id="rId13"/>
      <p:bold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Citations</c:v>
                </c:pt>
              </c:strCache>
            </c:strRef>
          </c:tx>
          <c:spPr>
            <a:solidFill>
              <a:srgbClr val="4A4D5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A3A"/>
                    </a:solidFill>
                    <a:latin typeface="GenWanMin2 TW SB"/>
                  </a:defRPr>
                </a:pPr>
                <a:endParaRPr lang="zh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  <c:pt idx="5">
                  <c:v>2026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</c:v>
                </c:pt>
                <c:pt idx="1">
                  <c:v>15</c:v>
                </c:pt>
                <c:pt idx="2">
                  <c:v>20</c:v>
                </c:pt>
                <c:pt idx="3">
                  <c:v>19</c:v>
                </c:pt>
                <c:pt idx="4">
                  <c:v>16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46-E44A-B4ED-09FFCEE22C4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8E4DE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66666"/>
                </a:solidFill>
                <a:latin typeface="GenWanMin2 TW R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CFBF9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8555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9480" y="384048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69480" y="3840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5A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中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744968" y="384048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44968" y="3840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5A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◐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0456" y="384048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0456" y="38404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5A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DDE3EC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 Personal Academic Website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841248" y="2212848"/>
            <a:ext cx="6126480" cy="23774"/>
          </a:xfrm>
          <a:prstGeom prst="rect">
            <a:avLst/>
          </a:prstGeom>
          <a:solidFill>
            <a:srgbClr val="DDE3E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9572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kern="0" spc="300" dirty="0">
                <a:solidFill>
                  <a:srgbClr val="8A95A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雙語學術個人網站模板</a:t>
            </a:r>
            <a:endParaRPr lang="en-US" sz="2500" dirty="0"/>
          </a:p>
        </p:txBody>
      </p:sp>
      <p:sp>
        <p:nvSpPr>
          <p:cNvPr id="11" name="Shape 9"/>
          <p:cNvSpPr/>
          <p:nvPr/>
        </p:nvSpPr>
        <p:spPr>
          <a:xfrm>
            <a:off x="822960" y="3977640"/>
            <a:ext cx="7498080" cy="0"/>
          </a:xfrm>
          <a:prstGeom prst="line">
            <a:avLst/>
          </a:prstGeom>
          <a:noFill/>
          <a:ln w="12700">
            <a:solidFill>
              <a:srgbClr val="2A3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3308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5A8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Quarto 驅動  ·  GitHub Pages 免費託管  ·  源雲明體排版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498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DD4E0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ABOUT      RESEARCH      TEACHING      CV      GOOGLE SCHOLAR      GITHUB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888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WHAT IS THIS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五分鐘，擁有自己的學術網站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81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5568" y="14447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基於 Quarto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15568" y="1737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用純文字 .qmd 寫作——像寫論文一樣寫網頁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15568" y="22494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一行指令發布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15568" y="2542032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quarto render 產出整個網站，無需前端知識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15568" y="305409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GitHub Pages 免費託管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15568" y="3346704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不需伺服器、不需付網域費用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895344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" y="3858768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開箱即用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15568" y="4151376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首頁、關於、研究、教學四個頁面俱全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74920" y="1371600"/>
            <a:ext cx="3474720" cy="3246120"/>
          </a:xfrm>
          <a:prstGeom prst="roundRect">
            <a:avLst>
              <a:gd name="adj" fmla="val 1972"/>
            </a:avLst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74920" y="1371600"/>
            <a:ext cx="3474720" cy="310896"/>
          </a:xfrm>
          <a:prstGeom prst="roundRect">
            <a:avLst>
              <a:gd name="adj" fmla="val 20588"/>
            </a:avLst>
          </a:prstGeom>
          <a:solidFill>
            <a:srgbClr val="F4F1EC"/>
          </a:solidFill>
          <a:ln w="12700">
            <a:solidFill>
              <a:srgbClr val="E0DB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1481328"/>
            <a:ext cx="82296" cy="82296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3" name="Shape 21"/>
          <p:cNvSpPr/>
          <p:nvPr/>
        </p:nvSpPr>
        <p:spPr>
          <a:xfrm>
            <a:off x="5413248" y="1481328"/>
            <a:ext cx="82296" cy="82296"/>
          </a:xfrm>
          <a:prstGeom prst="ellipse">
            <a:avLst/>
          </a:prstGeom>
          <a:solidFill>
            <a:srgbClr val="E0A8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568696" y="1481328"/>
            <a:ext cx="82296" cy="82296"/>
          </a:xfrm>
          <a:prstGeom prst="ellipse">
            <a:avLst/>
          </a:prstGeom>
          <a:solidFill>
            <a:srgbClr val="2F7D4F"/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1389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yourname.github.io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440680" y="20574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Yu-You Liou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458968" y="2542032"/>
            <a:ext cx="1965960" cy="18288"/>
          </a:xfrm>
          <a:prstGeom prst="rect">
            <a:avLst/>
          </a:prstGeom>
          <a:solidFill>
            <a:srgbClr val="1A2A3A"/>
          </a:solidFill>
          <a:ln/>
        </p:spPr>
      </p:sp>
      <p:sp>
        <p:nvSpPr>
          <p:cNvPr id="28" name="Text 26"/>
          <p:cNvSpPr/>
          <p:nvPr/>
        </p:nvSpPr>
        <p:spPr>
          <a:xfrm>
            <a:off x="5440680" y="26334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200" dirty="0">
                <a:solidFill>
                  <a:srgbClr val="4A556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劉昱佑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40680" y="3822192"/>
            <a:ext cx="2743200" cy="0"/>
          </a:xfrm>
          <a:prstGeom prst="line">
            <a:avLst/>
          </a:prstGeom>
          <a:noFill/>
          <a:ln w="12700">
            <a:solidFill>
              <a:srgbClr val="E8E4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89534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88888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Agricultural &amp; Environmental Economics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440680" y="416052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5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ABOUT      RESEARCH      TEACHING      CV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888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RESEARCH PAGE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讓數字替你說話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89888"/>
            <a:ext cx="7863840" cy="0"/>
          </a:xfrm>
          <a:prstGeom prst="line">
            <a:avLst/>
          </a:prstGeom>
          <a:noFill/>
          <a:ln w="12700">
            <a:solidFill>
              <a:srgbClr val="E8E4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542032"/>
            <a:ext cx="7863840" cy="0"/>
          </a:xfrm>
          <a:prstGeom prst="line">
            <a:avLst/>
          </a:prstGeom>
          <a:noFill/>
          <a:ln w="12700">
            <a:solidFill>
              <a:srgbClr val="E8E4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36192"/>
            <a:ext cx="2621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200" dirty="0">
                <a:solidFill>
                  <a:srgbClr val="666666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PUBLICATIONS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755648"/>
            <a:ext cx="26213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13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261390" y="1536192"/>
            <a:ext cx="2621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200" dirty="0">
                <a:solidFill>
                  <a:srgbClr val="666666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CITES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61390" y="1755648"/>
            <a:ext cx="26213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87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882701" y="1536192"/>
            <a:ext cx="26213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kern="0" spc="200" dirty="0">
                <a:solidFill>
                  <a:srgbClr val="666666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H INDEX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882701" y="1755648"/>
            <a:ext cx="262131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40080" y="274320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666666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CITATIONS PER YEAR</a:t>
            </a:r>
            <a:endParaRPr lang="en-US" sz="10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640080" y="2971800"/>
          <a:ext cx="493776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5989320" y="2944368"/>
            <a:ext cx="45720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5" name="Text 12"/>
          <p:cNvSpPr/>
          <p:nvPr/>
        </p:nvSpPr>
        <p:spPr>
          <a:xfrm>
            <a:off x="6172200" y="29077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進場動畫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172200" y="31546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數字以 ease-out 緩動從 0 數到位，長條逐根長高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89320" y="3657600"/>
            <a:ext cx="45720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5"/>
          <p:cNvSpPr/>
          <p:nvPr/>
        </p:nvSpPr>
        <p:spPr>
          <a:xfrm>
            <a:off x="6172200" y="36210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資料自己掌握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172200" y="386791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統計數字就寫在 .qmd 裡，隨時更新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989320" y="4370832"/>
            <a:ext cx="45720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1" name="Text 18"/>
          <p:cNvSpPr/>
          <p:nvPr/>
        </p:nvSpPr>
        <p:spPr>
          <a:xfrm>
            <a:off x="6172200" y="433425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更多視覺元件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6172200" y="458114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期刊封面牆、共同作者世界地圖（下頁詳述）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888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PUBLICATIONS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每一篇論文，都值得好好展示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7863840" cy="2395728"/>
          </a:xfrm>
          <a:prstGeom prst="roundRect">
            <a:avLst>
              <a:gd name="adj" fmla="val 2672"/>
            </a:avLst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627632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276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100" dirty="0">
                <a:solidFill>
                  <a:srgbClr val="FCFBF9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AJAE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1572768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Estimating the Impact of Climate Adaptation on Rice Yields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86537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with J. Chang  ·  American Journal of Agricultural Economics  ·  2025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03120" y="2212848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22128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2C5282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DOI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44368" y="2212848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22128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2C5282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PDF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785616" y="2212848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2C5282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85616" y="22128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FCFBF9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BIBTEX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626864" y="2212848"/>
            <a:ext cx="749808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2C52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221284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2C5282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ABSTRACT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03720" y="2212848"/>
            <a:ext cx="62179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B0A99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2212848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8A8174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SSCI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616952" y="2212848"/>
            <a:ext cx="804672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B0A9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16952" y="221284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kern="0" spc="100" dirty="0">
                <a:solidFill>
                  <a:srgbClr val="8A8174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ECONLIT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103120" y="2596896"/>
            <a:ext cx="6126480" cy="960120"/>
          </a:xfrm>
          <a:prstGeom prst="roundRect">
            <a:avLst>
              <a:gd name="adj" fmla="val 3810"/>
            </a:avLst>
          </a:prstGeom>
          <a:solidFill>
            <a:srgbClr val="FDFDFC"/>
          </a:solidFill>
          <a:ln w="9525">
            <a:solidFill>
              <a:srgbClr val="E0DB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67712" y="2688336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1F3A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@article</a:t>
            </a:r>
            <a:r>
              <a:rPr lang="en-US" sz="950" dirty="0">
                <a:solidFill>
                  <a:srgbClr val="2D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950" b="1" dirty="0">
                <a:solidFill>
                  <a:srgbClr val="9B1C3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liou2025climate</a:t>
            </a:r>
            <a:r>
              <a:rPr lang="en-US" sz="950" dirty="0">
                <a:solidFill>
                  <a:srgbClr val="2D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8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author</a:t>
            </a:r>
            <a:r>
              <a:rPr lang="en-US" sz="950" dirty="0">
                <a:solidFill>
                  <a:srgbClr val="2D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r>
              <a:rPr lang="en-US" sz="950" dirty="0">
                <a:solidFill>
                  <a:srgbClr val="C03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Liou, Yu-You and Chang, J.</a:t>
            </a:r>
            <a:r>
              <a:rPr lang="en-US" sz="950" dirty="0">
                <a:solidFill>
                  <a:srgbClr val="2D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F8A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journal</a:t>
            </a:r>
            <a:r>
              <a:rPr lang="en-US" sz="950" dirty="0">
                <a:solidFill>
                  <a:srgbClr val="2D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{</a:t>
            </a:r>
            <a:r>
              <a:rPr lang="en-US" sz="950" dirty="0">
                <a:solidFill>
                  <a:srgbClr val="C039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Am. J. Agric. Econ.</a:t>
            </a:r>
            <a:r>
              <a:rPr lang="en-US" sz="950" dirty="0">
                <a:solidFill>
                  <a:srgbClr val="2D3A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}}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18120" y="2651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A99E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041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282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一鍵複製 BibTeX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297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點一下就複製，附語法上色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37560" y="4041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282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摘要折疊展開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4297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Abstract 收合在條目內，版面乾淨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35040" y="4041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282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PlumX 與索引標章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35040" y="4297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引用指標、SSCI / SCIE / EconLit 一目了然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888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BILINGUAL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一鍵切換，中英雙語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3756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About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14400" y="2066544"/>
            <a:ext cx="2788920" cy="0"/>
          </a:xfrm>
          <a:prstGeom prst="line">
            <a:avLst/>
          </a:prstGeom>
          <a:noFill/>
          <a:ln w="12700">
            <a:solidFill>
              <a:srgbClr val="E8E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7627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I am an economist working on agricultural, environmental, and transportation issues.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21868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2C5282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ABOUT   RESEARCH   TEACHING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166360" y="1417320"/>
            <a:ext cx="3337560" cy="22402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40680" y="16459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關於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40680" y="2066544"/>
            <a:ext cx="2788920" cy="0"/>
          </a:xfrm>
          <a:prstGeom prst="line">
            <a:avLst/>
          </a:prstGeom>
          <a:noFill/>
          <a:ln w="12700">
            <a:solidFill>
              <a:srgbClr val="E8E4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17627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我是一位經濟學家，研究農業、環境與交通議題。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40680" y="3218688"/>
            <a:ext cx="2788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150" dirty="0">
                <a:solidFill>
                  <a:srgbClr val="2C5282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關於   研究   教學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33088" y="2331720"/>
            <a:ext cx="877824" cy="384048"/>
          </a:xfrm>
          <a:prstGeom prst="roundRect">
            <a:avLst>
              <a:gd name="adj" fmla="val 14286"/>
            </a:avLst>
          </a:prstGeom>
          <a:solidFill>
            <a:srgbClr val="FCFBF9"/>
          </a:solidFill>
          <a:ln w="12700">
            <a:solidFill>
              <a:srgbClr val="C8C2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33088" y="2331720"/>
            <a:ext cx="877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EN ⇄ 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041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282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全站對照切換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297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導覽列、頁尾、內文以 data-en / data-zh 成對撰寫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37560" y="4041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282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記住訪客偏好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37560" y="4297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localStorage 保存語言設定，下次造訪不必再切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35040" y="404164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5282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完整雙語頁面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35040" y="42976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About、Research、Teaching 各有 -zh 版本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14182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888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APPEARANCE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6217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外觀，讓訪客自己決定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Research  研究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108960" cy="0"/>
          </a:xfrm>
          <a:prstGeom prst="line">
            <a:avLst/>
          </a:prstGeom>
          <a:noFill/>
          <a:ln w="12700">
            <a:solidFill>
              <a:srgbClr val="E8E4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12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氣候調適對稻作產量的影響，刊於 </a:t>
            </a:r>
            <a:r>
              <a:rPr lang="en-US" sz="1050" dirty="0">
                <a:solidFill>
                  <a:srgbClr val="2C5282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AJAE (2025)</a:t>
            </a:r>
            <a:r>
              <a:rPr lang="en-US" sz="10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0175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CFBF9"/>
          </a:solidFill>
          <a:ln w="12700">
            <a:solidFill>
              <a:srgbClr val="C8C2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15568" y="30175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CFBF9"/>
          </a:solidFill>
          <a:ln w="12700">
            <a:solidFill>
              <a:srgbClr val="C8C2B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A−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591056" y="30175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CFBF9"/>
          </a:solidFill>
          <a:ln w="12700">
            <a:solidFill>
              <a:srgbClr val="C8C2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91056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66544" y="30175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FCFBF9"/>
          </a:solidFill>
          <a:ln w="12700">
            <a:solidFill>
              <a:srgbClr val="C8C2B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66544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888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A+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66666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淺色主題（預設）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2120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3EC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Research  研究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12080" y="2103120"/>
            <a:ext cx="3108960" cy="0"/>
          </a:xfrm>
          <a:prstGeom prst="line">
            <a:avLst/>
          </a:prstGeom>
          <a:noFill/>
          <a:ln w="12700">
            <a:solidFill>
              <a:srgbClr val="2A30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2128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CDD4E0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氣候調適對稻作產量的影響，刊於 </a:t>
            </a:r>
            <a:r>
              <a:rPr lang="en-US" sz="1050" dirty="0">
                <a:solidFill>
                  <a:srgbClr val="8FAFC8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AJAE (2025)</a:t>
            </a:r>
            <a:r>
              <a:rPr lang="en-US" sz="1050" dirty="0">
                <a:solidFill>
                  <a:srgbClr val="CDD4E0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12080" y="30175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5A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◐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87568" y="30175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5A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A−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163056" y="30175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5A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638544" y="3017520"/>
            <a:ext cx="384048" cy="292608"/>
          </a:xfrm>
          <a:prstGeom prst="roundRect">
            <a:avLst>
              <a:gd name="adj" fmla="val 12500"/>
            </a:avLst>
          </a:prstGeom>
          <a:solidFill>
            <a:srgbClr val="141824"/>
          </a:solidFill>
          <a:ln w="12700">
            <a:solidFill>
              <a:srgbClr val="2A30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38544" y="301752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5A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A+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12080" y="3520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5A8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深色主題　data-theme="dark"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0080" y="4297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完整雙主題：所有元件皆有深色樣式 — 不是半套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212080" y="42976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DD4E0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三段字級 13 / 16 / 19 px，與主題一起記在 localStorage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B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8888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DETAILS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A2A3A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看不見的細節，看得見的品質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9476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00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2C5282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PERFORMANCE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96112" y="1819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字型子集化：22 MB → 186 KB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96112" y="21305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內建 pyftsubset 腳本，只打包頁面實際用到的字，明體美感不犧牲載入速度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79476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65192" y="1600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2C5282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VISUAL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965192" y="181965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共同作者世界地圖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65192" y="21305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SVG 世界地圖標出合作者所在地，滑過顯示姓名與機構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379476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96112" y="3291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2C5282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VISUAL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96112" y="3511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期刊封面牆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96112" y="38221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發表期刊的封面格狀陳列，滑過時浮起，質感如書架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3794760" cy="150876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E0DBD4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65192" y="32918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2C5282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RESPONSIVE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65192" y="35112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2A3A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行動裝置完整適配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65192" y="38221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從手機到桌面：導覽列、論文條目、頁尾皆有對應版面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8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DDE3EC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開始建立你的網站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5A8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三個步驟，今晚就能上線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20624" cy="420624"/>
          </a:xfrm>
          <a:prstGeom prst="ellipse">
            <a:avLst/>
          </a:prstGeom>
          <a:solidFill>
            <a:srgbClr val="141824"/>
          </a:solidFill>
          <a:ln w="15875">
            <a:solidFill>
              <a:srgbClr val="8FAF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AFC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724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D4E0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Fork 範本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0540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5A8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GitHub 上複製一份，全部原始碼都是你的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74720" y="2148840"/>
            <a:ext cx="420624" cy="420624"/>
          </a:xfrm>
          <a:prstGeom prst="ellipse">
            <a:avLst/>
          </a:prstGeom>
          <a:solidFill>
            <a:srgbClr val="141824"/>
          </a:solidFill>
          <a:ln w="15875">
            <a:solidFill>
              <a:srgbClr val="8FAF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AFC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74720" y="2724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D4E0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填入你的資料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30540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5A8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編輯 .qmd：姓名、論文、課程，純文字搞定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26480" y="2148840"/>
            <a:ext cx="420624" cy="420624"/>
          </a:xfrm>
          <a:prstGeom prst="ellipse">
            <a:avLst/>
          </a:prstGeom>
          <a:solidFill>
            <a:srgbClr val="141824"/>
          </a:solidFill>
          <a:ln w="15875">
            <a:solidFill>
              <a:srgbClr val="8FAF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8FAFC8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27249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DD4E0"/>
                </a:solidFill>
                <a:latin typeface="GenWanMin2 TW M" pitchFamily="34" charset="0"/>
                <a:ea typeface="GenWanMin2 TW M" pitchFamily="34" charset="-122"/>
                <a:cs typeface="GenWanMin2 TW M" pitchFamily="34" charset="-120"/>
              </a:rPr>
              <a:t>render 並發布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126480" y="305409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8A95A8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quarto render，推上 GitHub Pages 即上線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7498080" cy="0"/>
          </a:xfrm>
          <a:prstGeom prst="line">
            <a:avLst/>
          </a:prstGeom>
          <a:noFill/>
          <a:ln w="12700">
            <a:solidFill>
              <a:srgbClr val="2A3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3159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5A8"/>
                </a:solidFill>
                <a:latin typeface="GenWanMin2 TW R" pitchFamily="34" charset="0"/>
                <a:ea typeface="GenWanMin2 TW R" pitchFamily="34" charset="-122"/>
                <a:cs typeface="GenWanMin2 TW R" pitchFamily="34" charset="-120"/>
              </a:rPr>
              <a:t>範例網站　yyliou.github.io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43159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kern="0" spc="200" dirty="0">
                <a:solidFill>
                  <a:srgbClr val="CDD4E0"/>
                </a:solidFill>
                <a:latin typeface="GenWanMin2 TW SB" pitchFamily="34" charset="0"/>
                <a:ea typeface="GenWanMin2 TW SB" pitchFamily="34" charset="-122"/>
                <a:cs typeface="GenWanMin2 TW SB" pitchFamily="34" charset="-120"/>
              </a:rPr>
              <a:t>SOURCE  ·  GITHUB.COM/YYLIOU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408</Words>
  <Application>Microsoft Macintosh PowerPoint</Application>
  <PresentationFormat>如螢幕大小 (16:9)</PresentationFormat>
  <Paragraphs>130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GenWanMin2 TW M</vt:lpstr>
      <vt:lpstr>Arial</vt:lpstr>
      <vt:lpstr>GenWanMin2 TW SB</vt:lpstr>
      <vt:lpstr>Courier New</vt:lpstr>
      <vt:lpstr>GenWanMin2 TW R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學術個人網站模板</dc:title>
  <dc:subject>PptxGenJS Presentation</dc:subject>
  <dc:creator>Yu-You Liou</dc:creator>
  <cp:lastModifiedBy>Yu-You LIou</cp:lastModifiedBy>
  <cp:revision>1</cp:revision>
  <dcterms:created xsi:type="dcterms:W3CDTF">2026-06-07T02:07:00Z</dcterms:created>
  <dcterms:modified xsi:type="dcterms:W3CDTF">2026-06-07T02:09:52Z</dcterms:modified>
</cp:coreProperties>
</file>